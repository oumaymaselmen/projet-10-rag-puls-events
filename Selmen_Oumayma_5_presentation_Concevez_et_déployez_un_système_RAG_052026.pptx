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1" r:id="rId7"/>
    <p:sldId id="262" r:id="rId8"/>
    <p:sldId id="264" r:id="rId9"/>
    <p:sldId id="265" r:id="rId10"/>
    <p:sldId id="266" r:id="rId11"/>
    <p:sldId id="263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95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82880" y="0"/>
            <a:ext cx="896112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PULS-EVENTS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Système de Recommandation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d'Événements Culturels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2004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Système RAG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Oumayma SELMEN  ·  Ingénieure Data  ·  Mai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3716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572768"/>
            <a:ext cx="3749040" cy="137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2414016"/>
            <a:ext cx="3749040" cy="137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97280" y="23042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 RAG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054096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3255264"/>
            <a:ext cx="3749040" cy="137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1097280" y="3145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des Choix Techniques</a:t>
            </a:r>
          </a:p>
        </p:txBody>
      </p:sp>
      <p:sp>
        <p:nvSpPr>
          <p:cNvPr id="17" name="Shape 15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4096512"/>
            <a:ext cx="3749040" cy="137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097280" y="3986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49240" y="1572768"/>
            <a:ext cx="3749040" cy="137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4068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 &amp; FAISS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212848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49240" y="2414016"/>
            <a:ext cx="3749040" cy="137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486400" y="40729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— Démo Live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3054096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4632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9240" y="3255264"/>
            <a:ext cx="3749040" cy="137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486400" y="232451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Évaluation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0" y="3895344"/>
            <a:ext cx="502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463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49240" y="4096512"/>
            <a:ext cx="3749040" cy="13716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486400" y="31859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30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36BDAAF0-56CC-987D-DE39-FD568EC83A60}"/>
              </a:ext>
            </a:extLst>
          </p:cNvPr>
          <p:cNvSpPr txBox="1"/>
          <p:nvPr/>
        </p:nvSpPr>
        <p:spPr>
          <a:xfrm>
            <a:off x="8732520" y="4811151"/>
            <a:ext cx="2532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15568"/>
            <a:ext cx="13716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840480" cy="3474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Puls-Events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de découverte d'événements culturels en temps réel en France.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intégrer un chatbot intelligent pour recommander des événements personnalisés.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32918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données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OpenAgenda via OpenDataSoft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Île-de-France · 12 derniers mois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280160"/>
            <a:ext cx="4297680" cy="16002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Sans RAG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invente des événements inexistants ou répond "je ne sais pas". Données périmées, réponses non fiables.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3017520"/>
            <a:ext cx="4297680" cy="1737360"/>
          </a:xfrm>
          <a:prstGeom prst="rect">
            <a:avLst/>
          </a:prstGeom>
          <a:solidFill>
            <a:srgbClr val="F0FFF5"/>
          </a:solidFill>
          <a:ln w="12700">
            <a:solidFill>
              <a:srgbClr val="AADD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Avec RAG (notre solution)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6118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chatbot répond à partir de 485 vrais événements actualisés. Réponses précises, fiables et en français.</a:t>
            </a:r>
            <a:endParaRPr lang="en-US" sz="12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D824301-E7FE-8D83-9DFB-0BBEB974A62E}"/>
              </a:ext>
            </a:extLst>
          </p:cNvPr>
          <p:cNvSpPr txBox="1"/>
          <p:nvPr/>
        </p:nvSpPr>
        <p:spPr>
          <a:xfrm>
            <a:off x="8739554" y="4866501"/>
            <a:ext cx="316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du Système RAG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15568"/>
            <a:ext cx="13716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645920" cy="118872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OpenDataSoft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données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691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325880"/>
            <a:ext cx="1645920" cy="1188720"/>
          </a:xfrm>
          <a:prstGeom prst="rect">
            <a:avLst/>
          </a:prstGeom>
          <a:solidFill>
            <a:srgbClr val="243552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057400" y="132588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057400" y="1463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fetch_data.py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&amp; Nettoyage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1691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1325880"/>
            <a:ext cx="1645920" cy="1188720"/>
          </a:xfrm>
          <a:prstGeom prst="rect">
            <a:avLst/>
          </a:prstGeom>
          <a:solidFill>
            <a:srgbClr val="243552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840480" y="132588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840480" y="1463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vectorize.py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691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3560" y="1325880"/>
            <a:ext cx="1645920" cy="1188720"/>
          </a:xfrm>
          <a:prstGeom prst="rect">
            <a:avLst/>
          </a:prstGeom>
          <a:solidFill>
            <a:srgbClr val="243552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623560" y="132588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23560" y="1463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rag.py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1691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6640" y="1325880"/>
            <a:ext cx="1645920" cy="118872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406640" y="1325880"/>
            <a:ext cx="16459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406640" y="14630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chatbot.py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834640"/>
            <a:ext cx="8595360" cy="4572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29260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291840"/>
            <a:ext cx="1508760" cy="777240"/>
          </a:xfrm>
          <a:prstGeom prst="rect">
            <a:avLst/>
          </a:prstGeom>
          <a:solidFill>
            <a:srgbClr val="1B2A4A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02920" y="32918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0.3.14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40280" y="3291840"/>
            <a:ext cx="1508760" cy="777240"/>
          </a:xfrm>
          <a:prstGeom prst="rect">
            <a:avLst/>
          </a:prstGeom>
          <a:solidFill>
            <a:srgbClr val="1B2A4A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240280" y="32918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FAISS-CPU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1.9.0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77640" y="3291840"/>
            <a:ext cx="1508760" cy="777240"/>
          </a:xfrm>
          <a:prstGeom prst="rect">
            <a:avLst/>
          </a:prstGeom>
          <a:solidFill>
            <a:srgbClr val="1B2A4A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977640" y="32918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1.2.5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15000" y="3291840"/>
            <a:ext cx="1508760" cy="777240"/>
          </a:xfrm>
          <a:prstGeom prst="rect">
            <a:avLst/>
          </a:prstGeom>
          <a:solidFill>
            <a:srgbClr val="1B2A4A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715000" y="32918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52360" y="3291840"/>
            <a:ext cx="1508760" cy="777240"/>
          </a:xfrm>
          <a:prstGeom prst="rect">
            <a:avLst/>
          </a:prstGeom>
          <a:solidFill>
            <a:srgbClr val="1B2A4A">
              <a:alpha val="10000"/>
            </a:srgb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452360" y="32918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Embedding → Recherche FAISS → Top 5 événements → Génération Mistral → Réponse en français</a:t>
            </a:r>
            <a:endParaRPr lang="en-US" sz="130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25DE1F6C-61A8-C8F9-AC7C-904786C6E0A5}"/>
              </a:ext>
            </a:extLst>
          </p:cNvPr>
          <p:cNvSpPr txBox="1"/>
          <p:nvPr/>
        </p:nvSpPr>
        <p:spPr>
          <a:xfrm>
            <a:off x="8739554" y="4866501"/>
            <a:ext cx="316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2A4A"/>
                </a:solidFill>
                <a:latin typeface="Georgia" pitchFamily="34" charset="0"/>
              </a:rPr>
              <a:t>Justification des Choix Techniques</a:t>
            </a:r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Mistral AI — mistral-embed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50" dirty="0">
                <a:solidFill>
                  <a:srgbClr val="1E293B"/>
                </a:solidFill>
              </a:rPr>
              <a:t>Modèle d'IA qui transforme un texte en vecteur de 1024 nombres — utilisé pour vectoriser les événements et les questions.</a:t>
            </a:r>
            <a:endParaRPr lang="en-US" sz="950" dirty="0">
              <a:solidFill>
                <a:srgbClr val="1E293B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82112" y="868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182112" y="868680"/>
            <a:ext cx="64008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19272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FAISS — IndexFlatL2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25272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Recherche vectorielle ultra-rapide en mémoire, sans infrastructure. Parfait pour un POC ≤ 5 000 chunks.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8686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135624" y="868680"/>
            <a:ext cx="6400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272784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mistral-small-latest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125272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50" dirty="0">
                <a:solidFill>
                  <a:srgbClr val="1E293B"/>
                </a:solidFill>
              </a:rPr>
              <a:t>Modèle de langage (LLM) qui génère la réponse finale en français à partir des événements trouvés par FAISS</a:t>
            </a:r>
            <a:endParaRPr lang="en-US" sz="950" dirty="0">
              <a:solidFill>
                <a:srgbClr val="1E293B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" y="24688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28600" y="2468880"/>
            <a:ext cx="64008" cy="1417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2542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LangChain — TextSplitter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85292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Découpage intelligent avec overlap (50 tokens) préservant la cohérence sémantique des chunks.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82112" y="24688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182112" y="2468880"/>
            <a:ext cx="64008" cy="1417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19272" y="2542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OpenDataSoft / OpenAgenda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272" y="285292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API publique gratuite, données structurées, couverture IDF exhaustive avec filtres date et région natifs.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246888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135624" y="2468880"/>
            <a:ext cx="64008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272784" y="25420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pytest — 5 tests unitaires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2784" y="2852928"/>
            <a:ext cx="2542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Validation de la chaîne : non-vide, région IDF, dates &lt; 1 an, titres complets, cohérence FAISS/metadata.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87210219-57BE-43F1-3C5D-EE0087B638D2}"/>
              </a:ext>
            </a:extLst>
          </p:cNvPr>
          <p:cNvSpPr/>
          <p:nvPr/>
        </p:nvSpPr>
        <p:spPr>
          <a:xfrm>
            <a:off x="0" y="65836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F126F649-FB53-1024-087B-325A817EA331}"/>
              </a:ext>
            </a:extLst>
          </p:cNvPr>
          <p:cNvSpPr/>
          <p:nvPr/>
        </p:nvSpPr>
        <p:spPr>
          <a:xfrm rot="16200000">
            <a:off x="-451573" y="1552193"/>
            <a:ext cx="1417320" cy="50293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BE0E3E37-875F-C80E-89FE-FF7DDE44DD57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40ECAFE-4788-B242-F668-2BDADCDF0BC4}"/>
              </a:ext>
            </a:extLst>
          </p:cNvPr>
          <p:cNvSpPr txBox="1"/>
          <p:nvPr/>
        </p:nvSpPr>
        <p:spPr>
          <a:xfrm>
            <a:off x="8739554" y="4866501"/>
            <a:ext cx="316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de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collecte à la base vectorielle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3716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82880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récupérés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1371600"/>
            <a:ext cx="182880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331720" y="137160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33172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31720" y="2057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nettoyage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182880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297680" y="137160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29768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297680" y="2057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créés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371600"/>
            <a:ext cx="1828800" cy="128016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263640" y="1371600"/>
            <a:ext cx="1828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6364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89.6%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63640" y="2057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qualité RAG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73152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30352" y="2944368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📡 fetch_data.py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3310128"/>
            <a:ext cx="37673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OpenDataSoft · Filtre Île-de-France + 12 mois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automatique (100 événements/requête)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JSON : events_idf.json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83464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73152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28032" y="2944368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preprocess.py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3310128"/>
            <a:ext cx="37673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doublons et valeurs manquantes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strict dates &lt; 1 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colonne text_for_embedding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: events_clean.json</a:t>
            </a:r>
            <a:endParaRPr lang="en-US" sz="11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C8315F4-4BE9-4452-D5AB-F0EA191BB0B2}"/>
              </a:ext>
            </a:extLst>
          </p:cNvPr>
          <p:cNvSpPr txBox="1"/>
          <p:nvPr/>
        </p:nvSpPr>
        <p:spPr>
          <a:xfrm>
            <a:off x="8739554" y="4866501"/>
            <a:ext cx="316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Vectorisation &amp; Indexation FAISS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15568"/>
            <a:ext cx="13716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520440"/>
          </a:xfrm>
          <a:prstGeom prst="rect">
            <a:avLst/>
          </a:prstGeom>
          <a:solidFill>
            <a:srgbClr val="1B2A4A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Mistral Embed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:
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"Concert de jazz à Paris"
</a:t>
            </a: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:
</a:t>
            </a:r>
            <a:r>
              <a:rPr lang="en-US" sz="13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[0.23, -0.87, 0.45 ... ×1024]
</a:t>
            </a:r>
            <a:r>
              <a:rPr lang="en-US" sz="1300" b="1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mistral-embed
</a:t>
            </a:r>
            <a:r>
              <a:rPr lang="en-US" sz="13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batches de 10 textes
Dimension : 1024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 — IndexFlatL2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828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euclidienne L2 · 495 vecteurs indexés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top-K en millisecondes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Optimisé CPU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4023360" cy="1783080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Découpage</a:t>
            </a: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 Chunks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(LangChain)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: 500 caractères · Chevauchement : 50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 la précision de la recherche sémantique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 événements → 495 chunks</a:t>
            </a:r>
            <a:endParaRPr lang="en-US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B4DD1DD-4105-5F39-7370-539F402C0424}"/>
              </a:ext>
            </a:extLst>
          </p:cNvPr>
          <p:cNvSpPr txBox="1"/>
          <p:nvPr/>
        </p:nvSpPr>
        <p:spPr>
          <a:xfrm>
            <a:off x="8739554" y="4866501"/>
            <a:ext cx="316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Unitaires &amp; Évaluation Qualité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15568"/>
            <a:ext cx="13716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53035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64008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3624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test_data_not_empty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non vide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0" y="1417320"/>
            <a:ext cx="804672" cy="329184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863840" y="1417320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947672"/>
            <a:ext cx="64008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19842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test_region_is_idf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22199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événements en Île-de-France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039112"/>
            <a:ext cx="804672" cy="329184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863840" y="2039112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9464"/>
            <a:ext cx="8412480" cy="53035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64008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test_dates_within_one_year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84378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dates &lt; 1 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2660904"/>
            <a:ext cx="804672" cy="329184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863840" y="2660904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19125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3191256"/>
            <a:ext cx="64008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32278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test_no_missing_titles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46557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titre manquant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3282696"/>
            <a:ext cx="804672" cy="329184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863840" y="3282696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813048"/>
            <a:ext cx="8412480" cy="530352"/>
          </a:xfrm>
          <a:prstGeom prst="rect">
            <a:avLst/>
          </a:prstGeom>
          <a:solidFill>
            <a:srgbClr val="F4F6F9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65760" y="3813048"/>
            <a:ext cx="64008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38496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test_metadata_matches_data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087368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FAISS / metadata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63840" y="3904488"/>
            <a:ext cx="804672" cy="329184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863840" y="3904488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5 tests passés  ·  pytest-9.0.3  ·  Python 3.13</a:t>
            </a:r>
            <a:endParaRPr lang="en-US" sz="1300" dirty="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03E8D41-978A-210F-E9AE-BDCFF313F0CF}"/>
              </a:ext>
            </a:extLst>
          </p:cNvPr>
          <p:cNvSpPr txBox="1"/>
          <p:nvPr/>
        </p:nvSpPr>
        <p:spPr>
          <a:xfrm>
            <a:off x="8739554" y="4866501"/>
            <a:ext cx="316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de l'Évaluation RAG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Similarité cosinus — Mistral Embed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3716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Concerts de jazz à Paris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53896"/>
            <a:ext cx="3474720" cy="25603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389120" y="1453896"/>
            <a:ext cx="315504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955280" y="13990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90.8%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pour enfants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112264"/>
            <a:ext cx="3474720" cy="25603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389120" y="2112264"/>
            <a:ext cx="3123773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955280" y="20574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89.9%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2715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Expositions en Île-de-France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770632"/>
            <a:ext cx="3474720" cy="25603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389120" y="2770632"/>
            <a:ext cx="315504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955280" y="27157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90.8%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00984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8640" y="33741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Spectacles de théâtre à Paris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3429000"/>
            <a:ext cx="3474720" cy="25603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389120" y="3429000"/>
            <a:ext cx="3057754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955280" y="337413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959352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40325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nature en Île-de-France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4087368"/>
            <a:ext cx="3474720" cy="256032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389120" y="4087368"/>
            <a:ext cx="3075127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955280" y="403250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88.5%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moyen : 89.6%  ·  Méthode : Similarité cosinus  ·  Jeu de test : 5 Q/R annotées</a:t>
            </a:r>
            <a:endParaRPr lang="en-US" sz="120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A459C8F-7443-9189-648C-B40E31ACD5BA}"/>
              </a:ext>
            </a:extLst>
          </p:cNvPr>
          <p:cNvSpPr txBox="1"/>
          <p:nvPr/>
        </p:nvSpPr>
        <p:spPr>
          <a:xfrm>
            <a:off x="8739554" y="4866501"/>
            <a:ext cx="316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15568"/>
            <a:ext cx="1371600" cy="502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73152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3813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Améliorations Techniques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755648"/>
            <a:ext cx="3813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IndexFlatL2 → IndexIVFFlat (scalabilité)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via API REST (FastAPI)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AWS / GCP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historique de conversation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73152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28032" y="1389888"/>
            <a:ext cx="3813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🗄️ Améliorations des Données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755648"/>
            <a:ext cx="3813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toute la France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complémentaires (Ticketmaster, Eventbrite)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 quotidienne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: prix, accessibilité, public cible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73152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0352" y="3355848"/>
            <a:ext cx="3813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Métriques &amp; Évaluation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721608"/>
            <a:ext cx="3813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test élargi (50+ questions)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BLEU et ROUGE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utilisateur intégré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des dérives de 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73152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28032" y="3355848"/>
            <a:ext cx="3813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Estimation des Coûts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721608"/>
            <a:ext cx="3813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actuel : &lt; 10€ / mois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production : 100–500€ / mois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: 50 000+ événements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: réduction support utilisateur</a:t>
            </a:r>
            <a:endParaRPr lang="en-US" sz="1100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4E45293-AD03-DC46-EE13-063809995FEB}"/>
              </a:ext>
            </a:extLst>
          </p:cNvPr>
          <p:cNvSpPr txBox="1"/>
          <p:nvPr/>
        </p:nvSpPr>
        <p:spPr>
          <a:xfrm>
            <a:off x="8641080" y="4866501"/>
            <a:ext cx="4149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DÉMONSTRATION LIVE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43200" y="1325880"/>
            <a:ext cx="36576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828800" y="1554480"/>
            <a:ext cx="54864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 src/chatbot.py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7680960" cy="457200"/>
          </a:xfrm>
          <a:prstGeom prst="rect">
            <a:avLst/>
          </a:prstGeom>
          <a:solidFill>
            <a:srgbClr val="0D1F38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 Quels concerts de jazz à Paris ce mois-ci 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90672"/>
            <a:ext cx="7680960" cy="457200"/>
          </a:xfrm>
          <a:prstGeom prst="rect">
            <a:avLst/>
          </a:prstGeom>
          <a:solidFill>
            <a:srgbClr val="0D1F38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14400" y="30906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 Événements pour enfants ce weekend en IDF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66744"/>
            <a:ext cx="7680960" cy="457200"/>
          </a:xfrm>
          <a:prstGeom prst="rect">
            <a:avLst/>
          </a:prstGeom>
          <a:solidFill>
            <a:srgbClr val="0D1F38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14400" y="366674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 Expositions d'art à Paris en juin 2026 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42816"/>
            <a:ext cx="7680960" cy="457200"/>
          </a:xfrm>
          <a:prstGeom prst="rect">
            <a:avLst/>
          </a:prstGeom>
          <a:solidFill>
            <a:srgbClr val="0D1F38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14400" y="424281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 Activités nature en Île-de-France ?</a:t>
            </a:r>
            <a:endParaRPr lang="en-US" sz="13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4DDF918-56EE-A994-2CB1-7EF01E015F92}"/>
              </a:ext>
            </a:extLst>
          </p:cNvPr>
          <p:cNvSpPr txBox="1"/>
          <p:nvPr/>
        </p:nvSpPr>
        <p:spPr>
          <a:xfrm>
            <a:off x="8774723" y="4801438"/>
            <a:ext cx="3692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82880" y="0"/>
            <a:ext cx="896112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POC démontre la faisabilité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système RAG Puls-Events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965960" cy="1234440"/>
          </a:xfrm>
          <a:prstGeom prst="rect">
            <a:avLst/>
          </a:prstGeom>
          <a:solidFill>
            <a:srgbClr val="0D1F38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qualité moyen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2011680"/>
            <a:ext cx="1965960" cy="1234440"/>
          </a:xfrm>
          <a:prstGeom prst="rect">
            <a:avLst/>
          </a:prstGeom>
          <a:solidFill>
            <a:srgbClr val="0D1F38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514600" y="201168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14600" y="2103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14600" y="26974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indexés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1965960" cy="1234440"/>
          </a:xfrm>
          <a:prstGeom prst="rect">
            <a:avLst/>
          </a:prstGeom>
          <a:solidFill>
            <a:srgbClr val="0D1F38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63440" y="26974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2011680"/>
            <a:ext cx="1965960" cy="1234440"/>
          </a:xfrm>
          <a:prstGeom prst="rect">
            <a:avLst/>
          </a:prstGeom>
          <a:solidFill>
            <a:srgbClr val="0D1F38"/>
          </a:solidFill>
          <a:ln w="1905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812280" y="201168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812280" y="21031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12280" y="26974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vecteurs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· Données actualisées · Prêt pour la production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0" y="3977640"/>
            <a:ext cx="4572000" cy="685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286000" y="3977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</a:t>
            </a:r>
            <a:endParaRPr lang="en-US" sz="18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41D90C1-4372-F1C2-83B3-BAFC820183FB}"/>
              </a:ext>
            </a:extLst>
          </p:cNvPr>
          <p:cNvSpPr txBox="1"/>
          <p:nvPr/>
        </p:nvSpPr>
        <p:spPr>
          <a:xfrm>
            <a:off x="8686800" y="4866501"/>
            <a:ext cx="3692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885</Words>
  <Application>Microsoft Office PowerPoint</Application>
  <PresentationFormat>Affichage à l'écran (16:9)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Puls-Events RAG POC</dc:title>
  <dc:subject>PptxGenJS Presentation</dc:subject>
  <dc:creator>Oumayma Selmen</dc:creator>
  <cp:lastModifiedBy>Oumayma Selmen</cp:lastModifiedBy>
  <cp:revision>3</cp:revision>
  <dcterms:created xsi:type="dcterms:W3CDTF">2026-05-29T09:34:08Z</dcterms:created>
  <dcterms:modified xsi:type="dcterms:W3CDTF">2026-05-29T10:33:54Z</dcterms:modified>
</cp:coreProperties>
</file>